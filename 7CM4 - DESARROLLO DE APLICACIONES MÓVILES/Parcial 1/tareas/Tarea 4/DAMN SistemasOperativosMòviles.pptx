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57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52" autoAdjust="0"/>
    <p:restoredTop sz="94660"/>
  </p:normalViewPr>
  <p:slideViewPr>
    <p:cSldViewPr snapToGrid="0">
      <p:cViewPr varScale="1">
        <p:scale>
          <a:sx n="77" d="100"/>
          <a:sy n="77" d="100"/>
        </p:scale>
        <p:origin x="29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FDBAC7-C521-41B6-B939-79086F035645}" type="datetimeFigureOut">
              <a:rPr lang="es-MX" smtClean="0"/>
              <a:t>31/08/2026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70F461-5B0D-4CEF-B348-62088AE1CCC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69561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20D46D-9FD0-45FC-BD41-48D5BFF005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6F277A7-7D63-49C2-8ABF-13E95B8876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CDFA480-5E96-4676-8F29-59BAA6E6D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1DABB-1460-4E57-9EB3-93CD98FA49C1}" type="datetime1">
              <a:rPr lang="es-MX" smtClean="0"/>
              <a:t>31/08/2026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77CAD2B-A57E-4321-8676-E617AC82D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D28F07A-204D-4E30-88F5-3660367C6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FD7E6-E654-4EF8-A341-A3F234C52C3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32036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5C3D4D-0A71-4BFE-82DF-42B722ADB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5385C1C-A9D1-4C1B-A117-3489F74575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260685A-4355-4EA6-83DB-9BA503F77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48DDC-6F78-4271-AEAF-7CB972C8AA55}" type="datetime1">
              <a:rPr lang="es-MX" smtClean="0"/>
              <a:t>31/08/2026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2F25B46-2BC7-42F5-A317-C1DF4EDD4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B7E9AD4-6AEC-4875-9FC4-0C4899BFF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FD7E6-E654-4EF8-A341-A3F234C52C3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744491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E14462-71FA-434D-B434-C2190A1E6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4DBF0C4-A19D-40E5-A498-A5262BDBDA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587DF9-AA27-44BC-B89E-2BF3E71C4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C6CBE-F9EF-46FD-AD38-682BA11C65A1}" type="datetime1">
              <a:rPr lang="es-MX" smtClean="0"/>
              <a:t>31/08/2026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9A2039B-435F-4A56-9CC2-C2BB9404E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B0808F9-8E67-470F-AF62-C3B8B9312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FD7E6-E654-4EF8-A341-A3F234C52C3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12977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30B639-508F-4AD5-A4AC-4E24A3C3F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59BB722-D18C-43A4-A9B5-24E7E5A3BB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4FA02F7-62EC-4E21-8A70-CAA54A39F7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C242AD3-9714-40F4-8FD9-407AF155C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D9972-9869-4021-AF10-9528505C1DD4}" type="datetime1">
              <a:rPr lang="es-MX" smtClean="0"/>
              <a:t>31/08/2026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44D523A-B61A-470F-BA4A-B07931A31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695C669-DA44-4EB9-A7D5-267D2934A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FD7E6-E654-4EF8-A341-A3F234C52C3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01345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AF23B3-5233-4DF5-8B1A-4A957677B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72A24C0-8D31-43DF-84CE-DF7330B466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73CA8C7-5AA4-44E5-A432-191E65E313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E3BC78D-1A4C-4FA0-9744-44724CFF8C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5FEA0AA-6840-4CA4-B382-B8F30099B5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BA48677-FCB6-4D1B-820C-2BDA6107D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4043C-ABFF-4444-BF9D-C920E0E50F60}" type="datetime1">
              <a:rPr lang="es-MX" smtClean="0"/>
              <a:t>31/08/2026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8FEE3D0-268B-4DB3-AC7E-1BE2CAB9E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A813703-3FFB-4DA8-83B6-64E8026DC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FD7E6-E654-4EF8-A341-A3F234C52C3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82243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5ED774-BD2B-4CCB-9639-A6D8A614B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6BCD8AB-C7C3-4806-84A0-C50EDA583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D7DC0-F5F7-486F-B563-50EF84CBBCF5}" type="datetime1">
              <a:rPr lang="es-MX" smtClean="0"/>
              <a:t>31/08/2026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3692837-08A3-4DBE-9C83-44A67896D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0BF2148-6B99-44F3-9441-E3B45CB46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FD7E6-E654-4EF8-A341-A3F234C52C3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083314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B4C75A3-CB1F-4EF3-9C4D-BE3320247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B2FA7-5EDC-4298-A0C1-30807457009B}" type="datetime1">
              <a:rPr lang="es-MX" smtClean="0"/>
              <a:t>31/08/2026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AC1D0DF-CFAF-41EC-9C93-FD75BE484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1736EE9-1DE5-4600-B5A6-7B3F3F368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FD7E6-E654-4EF8-A341-A3F234C52C3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1256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08D9B3-87AB-414E-95B5-8DA46D11E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F9E5B1C-D7EB-40F5-AD2F-A746B5ECC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4752EB1-CEC9-41F6-B378-38748AA295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B84B0F8-5E33-4C5E-8408-93E9ECCB6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4EFCC-AFC3-47B8-9B7D-4D49E22FA3E0}" type="datetime1">
              <a:rPr lang="es-MX" smtClean="0"/>
              <a:t>31/08/2026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FAA53FC-7683-4221-BC2B-06E23FDEB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77FE08B-0890-4D28-8D4C-F457A3A38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FD7E6-E654-4EF8-A341-A3F234C52C3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941527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5589A9-F0E5-4F43-890C-32239EC5E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FA46E17-6887-4697-96B3-28E44811D9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AA296F0-F7F0-40A1-BDD1-F6F4F93814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A1BD1FF-6910-4F15-8D9F-78F22E385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8F792-D671-4942-BAA4-859F15D5B6A4}" type="datetime1">
              <a:rPr lang="es-MX" smtClean="0"/>
              <a:t>31/08/2026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B2114D0-7947-4D1E-A78C-4FB1C85BA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8AE3D37-184E-4395-A537-A4852B6B9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FD7E6-E654-4EF8-A341-A3F234C52C3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330068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80C90C-E2B7-4859-965C-7EEAB8A16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04B1A99-9731-4896-94E1-9C0FA2B219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D29F6CB-B4ED-47C6-9F83-EC43E2971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B1BE4-9459-4D9D-A5C3-52E84EA932CA}" type="datetime1">
              <a:rPr lang="es-MX" smtClean="0"/>
              <a:t>31/08/2026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363C435-7F3B-4757-A85C-BDE9C5E05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0011094-ABAE-48BF-9FEA-1D9ED5B63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FD7E6-E654-4EF8-A341-A3F234C52C3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603359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BD34027-BE05-46C9-A0A0-C4A4FF73A1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92A55CF-996F-434F-9E69-36D1F6275B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32A03FD-0FD7-4BA0-BE42-3C57E09F9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B11E7-204A-46F7-AE00-5B1B95F15E2E}" type="datetime1">
              <a:rPr lang="es-MX" smtClean="0"/>
              <a:t>31/08/2026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66DCDDE-E310-49BB-97BD-87D652A30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726E588-98E0-40BF-A9D9-1D4D76079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FD7E6-E654-4EF8-A341-A3F234C52C3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9179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6D74B88-62A8-453B-A510-DA5A8883C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FC74C67-4975-47C8-8BF8-48B4C9868F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F00EFC6-03D5-4EF1-AB95-D014E304A5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8F0138-224A-4549-9838-7E86C60590E6}" type="datetime1">
              <a:rPr lang="es-MX" smtClean="0"/>
              <a:t>31/08/2026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C4138EE-BC35-4A71-8459-BD1B99CAC2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7F836AC-23AE-445B-880E-FE0754C92A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EFD7E6-E654-4EF8-A341-A3F234C52C3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04795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A20549-21C6-43EE-B60A-FD5787F087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00201"/>
            <a:ext cx="9144000" cy="1142544"/>
          </a:xfrm>
        </p:spPr>
        <p:txBody>
          <a:bodyPr>
            <a:normAutofit/>
          </a:bodyPr>
          <a:lstStyle/>
          <a:p>
            <a:r>
              <a:rPr lang="es-ES" sz="4000" dirty="0"/>
              <a:t>Desarrollo de Aplicaciones Móviles Nativas</a:t>
            </a:r>
            <a:endParaRPr lang="es-MX" sz="40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40DF005-3556-4DD8-8DD6-B87ED4F804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08328"/>
            <a:ext cx="9144000" cy="2129425"/>
          </a:xfrm>
        </p:spPr>
        <p:txBody>
          <a:bodyPr>
            <a:normAutofit/>
          </a:bodyPr>
          <a:lstStyle/>
          <a:p>
            <a:r>
              <a:rPr lang="es-MX" sz="4000" dirty="0"/>
              <a:t>Sistemas Operativos Móviles</a:t>
            </a:r>
          </a:p>
          <a:p>
            <a:endParaRPr lang="es-MX" sz="4000" dirty="0"/>
          </a:p>
          <a:p>
            <a:pPr algn="r"/>
            <a:r>
              <a:rPr lang="es-MX" sz="2800" dirty="0"/>
              <a:t>Dr. Alejandro Cifuentes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17C57E2-BEC2-4C5C-9A5C-A11501C39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FD7E6-E654-4EF8-A341-A3F234C52C34}" type="slidenum">
              <a:rPr lang="es-MX" smtClean="0"/>
              <a:t>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91117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186518-F6C0-4CB1-AEFE-470D5EF2F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ES" sz="3600" dirty="0"/>
              <a:t>Los primeros sistemas operativos móviles</a:t>
            </a:r>
            <a:endParaRPr lang="es-MX" sz="36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410B94A-2B48-4AFC-A9D1-1BFB885FB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5885" y="1825624"/>
            <a:ext cx="9457151" cy="5032375"/>
          </a:xfrm>
        </p:spPr>
        <p:txBody>
          <a:bodyPr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s-ES" sz="1800" b="1" dirty="0">
                <a:solidFill>
                  <a:schemeClr val="accent2">
                    <a:lumMod val="75000"/>
                  </a:schemeClr>
                </a:solidFill>
              </a:rPr>
              <a:t>ERA ANTIGUA: LOS PIONEROS (1996 - 2007)</a:t>
            </a:r>
          </a:p>
          <a:p>
            <a:pPr algn="just">
              <a:lnSpc>
                <a:spcPct val="100000"/>
              </a:lnSpc>
            </a:pPr>
            <a:r>
              <a:rPr lang="es-ES" sz="1800" b="1" dirty="0"/>
              <a:t>Windows Mobile </a:t>
            </a:r>
            <a:r>
              <a:rPr lang="es-ES" sz="1800" dirty="0"/>
              <a:t>(Microsoft - 1996): Nació como Pocket PC diseñado para agendas electrónicas.</a:t>
            </a:r>
          </a:p>
          <a:p>
            <a:pPr lvl="1" algn="just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s-ES" sz="1800" dirty="0"/>
              <a:t>Adaptaba la interfaz clásica del escritorio de Windows con un menú de inicio a las pantallas móviles.</a:t>
            </a:r>
          </a:p>
          <a:p>
            <a:pPr lvl="1" algn="just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s-ES" sz="1800" dirty="0"/>
              <a:t>Dependía del uso de un lápiz óptico (</a:t>
            </a:r>
            <a:r>
              <a:rPr lang="es-ES" sz="1800" dirty="0" err="1"/>
              <a:t>stylus</a:t>
            </a:r>
            <a:r>
              <a:rPr lang="es-ES" sz="1800" dirty="0"/>
              <a:t>), incluía versiones móviles de Office y carecía de una tienda de aplicaciones centralizada eficiente.</a:t>
            </a:r>
          </a:p>
          <a:p>
            <a:pPr algn="just">
              <a:lnSpc>
                <a:spcPct val="100000"/>
              </a:lnSpc>
            </a:pPr>
            <a:r>
              <a:rPr lang="es-ES" sz="1800" b="1" dirty="0"/>
              <a:t>Symbian OS </a:t>
            </a:r>
            <a:r>
              <a:rPr lang="es-ES" sz="1800" dirty="0"/>
              <a:t>(Consorcio Nokia, Ericsson, Motorola - 1998): Rey de la era </a:t>
            </a:r>
            <a:r>
              <a:rPr lang="es-ES" sz="1800" dirty="0" err="1"/>
              <a:t>pre-smartphone</a:t>
            </a:r>
            <a:r>
              <a:rPr lang="es-ES" sz="1800" dirty="0"/>
              <a:t> y el dominio de Nokia. Diseñado para teléfonos celulares tradicionales con teclado.</a:t>
            </a:r>
          </a:p>
          <a:p>
            <a:pPr lvl="1" algn="just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s-ES" sz="1800" dirty="0"/>
              <a:t>Excelente gestión de la batería, soporte multitarea básico y gran estabilidad.</a:t>
            </a:r>
          </a:p>
          <a:p>
            <a:pPr lvl="1" algn="just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s-ES" sz="1800" dirty="0"/>
              <a:t>Su arquitectura se volvió obsoleta al no estar diseñado nativamente para pantallas táctiles capacitivas.</a:t>
            </a:r>
          </a:p>
          <a:p>
            <a:pPr algn="just">
              <a:lnSpc>
                <a:spcPct val="100000"/>
              </a:lnSpc>
            </a:pPr>
            <a:r>
              <a:rPr lang="es-ES" sz="1800" b="1" dirty="0"/>
              <a:t>BlackBerry OS</a:t>
            </a:r>
            <a:r>
              <a:rPr lang="es-ES" sz="1800" dirty="0"/>
              <a:t> (</a:t>
            </a:r>
            <a:r>
              <a:rPr lang="es-ES" sz="1800" dirty="0" err="1"/>
              <a:t>Research</a:t>
            </a:r>
            <a:r>
              <a:rPr lang="es-ES" sz="1800" dirty="0"/>
              <a:t> In </a:t>
            </a:r>
            <a:r>
              <a:rPr lang="es-ES" sz="1800" dirty="0" err="1"/>
              <a:t>Motion</a:t>
            </a:r>
            <a:r>
              <a:rPr lang="es-ES" sz="1800" dirty="0"/>
              <a:t> - 1999): Preferido del sector corporativo y gubernamental.</a:t>
            </a:r>
          </a:p>
          <a:p>
            <a:pPr lvl="1" algn="just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s-ES" sz="1800" dirty="0"/>
              <a:t>Se construyó para el uso de teclados QWERTY completos.</a:t>
            </a:r>
          </a:p>
          <a:p>
            <a:pPr lvl="1" algn="just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s-ES" sz="1800" dirty="0"/>
              <a:t>Revolucionario servicio de correo electrónico instantáneo (</a:t>
            </a:r>
            <a:r>
              <a:rPr lang="es-ES" sz="1800" dirty="0" err="1"/>
              <a:t>Push</a:t>
            </a:r>
            <a:r>
              <a:rPr lang="es-ES" sz="1800" dirty="0"/>
              <a:t> Email), seguridad de cifrado avanzada y servicio de mensajería cifrada BlackBerry Messenger (BBM).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F5921C7-B2B2-4353-A3E7-1799C2862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FD7E6-E654-4EF8-A341-A3F234C52C34}" type="slidenum">
              <a:rPr lang="es-MX" smtClean="0"/>
              <a:t>2</a:t>
            </a:fld>
            <a:endParaRPr lang="es-MX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548B335-5C85-4C8B-91F3-DC6FF35D663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804" r="7427"/>
          <a:stretch/>
        </p:blipFill>
        <p:spPr>
          <a:xfrm>
            <a:off x="10070926" y="2206625"/>
            <a:ext cx="2008340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4302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186518-F6C0-4CB1-AEFE-470D5EF2F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ES" sz="3600" dirty="0"/>
              <a:t>Fracasos: Nokia (Symbian) y Microsoft (Windows </a:t>
            </a:r>
            <a:r>
              <a:rPr lang="es-ES" sz="3600" dirty="0" err="1"/>
              <a:t>Phone</a:t>
            </a:r>
            <a:r>
              <a:rPr lang="es-ES" sz="3600" dirty="0"/>
              <a:t>)</a:t>
            </a:r>
            <a:endParaRPr lang="es-MX" sz="36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410B94A-2B48-4AFC-A9D1-1BFB885FB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734" y="1825625"/>
            <a:ext cx="11812044" cy="2746376"/>
          </a:xfrm>
        </p:spPr>
        <p:txBody>
          <a:bodyPr>
            <a:noAutofit/>
          </a:bodyPr>
          <a:lstStyle/>
          <a:p>
            <a:pPr marL="0" indent="0" algn="ctr">
              <a:lnSpc>
                <a:spcPct val="120000"/>
              </a:lnSpc>
              <a:spcBef>
                <a:spcPts val="0"/>
              </a:spcBef>
              <a:buNone/>
            </a:pPr>
            <a:r>
              <a:rPr lang="es-ES" sz="2000" b="1" dirty="0">
                <a:solidFill>
                  <a:schemeClr val="accent2">
                    <a:lumMod val="75000"/>
                  </a:schemeClr>
                </a:solidFill>
              </a:rPr>
              <a:t>EL COLAPSO DE SYMBIAN (NOKIA)</a:t>
            </a: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es-ES" sz="2000" dirty="0"/>
              <a:t>Nokia dominaba el mundo, pero Symbian fue su condena por dos razones principales: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s-ES" sz="2000" dirty="0"/>
              <a:t>No estaba hecho para pantallas táctiles: Symbian nació para teléfonos con botones.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s-ES" sz="2000" dirty="0"/>
              <a:t>Cuando Apple lanzó el iPhone en 2007, Nokia intentó "parchar" Symbian para que fuera táctil, pero la experiencia de usuario era lenta, tosca y requería demasiada presión en la pantalla.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s-ES" sz="2000" dirty="0"/>
              <a:t>Pesadilla para los desarrolladores: Crear una aplicación para Symbian era un proceso complejo y tardado.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s-ES" sz="2000" dirty="0"/>
              <a:t>Cuando Android e iOS ofrecieron herramientas sencillas para programar, los desarrolladores abandonaron a Nokia en masa.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CA4EF0A-B3B8-4607-B88F-07779E83A43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378" t="19361" r="4297" b="28219"/>
          <a:stretch/>
        </p:blipFill>
        <p:spPr>
          <a:xfrm>
            <a:off x="3453008" y="4572001"/>
            <a:ext cx="5285984" cy="2022770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3E8F074-DB35-4954-B5D1-5665D8017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FD7E6-E654-4EF8-A341-A3F234C52C34}" type="slidenum">
              <a:rPr lang="es-MX" smtClean="0"/>
              <a:t>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48906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186518-F6C0-4CB1-AEFE-470D5EF2F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ES" sz="3600" dirty="0"/>
              <a:t>Fracasos: Nokia (Symbian) y Microsoft (Windows </a:t>
            </a:r>
            <a:r>
              <a:rPr lang="es-ES" sz="3600" dirty="0" err="1"/>
              <a:t>Phone</a:t>
            </a:r>
            <a:r>
              <a:rPr lang="es-ES" sz="3600" dirty="0"/>
              <a:t>)</a:t>
            </a:r>
            <a:endParaRPr lang="es-MX" sz="36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410B94A-2B48-4AFC-A9D1-1BFB885FB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255" y="1825624"/>
            <a:ext cx="11448789" cy="3497937"/>
          </a:xfrm>
        </p:spPr>
        <p:txBody>
          <a:bodyPr>
            <a:normAutofit fontScale="62500" lnSpcReduction="20000"/>
          </a:bodyPr>
          <a:lstStyle/>
          <a:p>
            <a:pPr marL="0" indent="0" algn="ctr">
              <a:lnSpc>
                <a:spcPct val="120000"/>
              </a:lnSpc>
              <a:spcBef>
                <a:spcPts val="0"/>
              </a:spcBef>
              <a:buNone/>
            </a:pPr>
            <a:r>
              <a:rPr lang="es-ES" sz="3300" b="1" dirty="0">
                <a:solidFill>
                  <a:schemeClr val="accent2">
                    <a:lumMod val="75000"/>
                  </a:schemeClr>
                </a:solidFill>
              </a:rPr>
              <a:t>EL FRACASO DE WINDOWS PHONE (MICROSOFT)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s-ES" sz="3300" dirty="0"/>
              <a:t>Microsoft llegó tarde y mal a la fiesta de los smartphones: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s-ES" sz="3300" dirty="0"/>
              <a:t>La "crisis" de las aplicaciones: Microsoft gastó miles de millones de dólares convenciendo a los desarrolladores de llevar sus apps a su tienda, pero la cuota de mercado era tan baja que empresas, como Google, se negaron a crear apps oficiales (como YouTube o </a:t>
            </a:r>
            <a:r>
              <a:rPr lang="es-ES" sz="3300" dirty="0" err="1"/>
              <a:t>Maps</a:t>
            </a:r>
            <a:r>
              <a:rPr lang="es-ES" sz="3300" dirty="0"/>
              <a:t>) para Windows </a:t>
            </a:r>
            <a:r>
              <a:rPr lang="es-ES" sz="3300" dirty="0" err="1"/>
              <a:t>Phone</a:t>
            </a:r>
            <a:r>
              <a:rPr lang="es-ES" sz="3300" dirty="0"/>
              <a:t>.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s-ES" sz="3300" dirty="0"/>
              <a:t>Un sistema operativo sin aplicaciones está muerto.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s-ES" sz="3300" dirty="0"/>
              <a:t>Pérdida de identidad: Cambios del núcleo del sistema operativo en pocos años (Windows Mobile a Windows </a:t>
            </a:r>
            <a:r>
              <a:rPr lang="es-ES" sz="3300" dirty="0" err="1"/>
              <a:t>Phone</a:t>
            </a:r>
            <a:r>
              <a:rPr lang="es-ES" sz="3300" dirty="0"/>
              <a:t> 7 y luego a Windows </a:t>
            </a:r>
            <a:r>
              <a:rPr lang="es-ES" sz="3300" dirty="0" err="1"/>
              <a:t>Phone</a:t>
            </a:r>
            <a:r>
              <a:rPr lang="es-ES" sz="3300" dirty="0"/>
              <a:t> 8).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s-ES" sz="3300" dirty="0"/>
              <a:t>Cada cambio dejaba obsoletos los teléfonos que los usuarios ya habían comprado, destruyendo la confianza de sus clientes.</a:t>
            </a: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es-ES" sz="33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DB09A58-FBA1-4054-933A-781C397A4F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7742" y="4819672"/>
            <a:ext cx="3536515" cy="1983899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87C97F2-E919-43F3-BBA7-19EF557FE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FD7E6-E654-4EF8-A341-A3F234C52C34}" type="slidenum">
              <a:rPr lang="es-MX" smtClean="0"/>
              <a:t>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095410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186518-F6C0-4CB1-AEFE-470D5EF2F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ES" sz="3600" dirty="0"/>
              <a:t>La transición de la tecnología</a:t>
            </a:r>
            <a:endParaRPr lang="es-MX" sz="36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410B94A-2B48-4AFC-A9D1-1BFB885FB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255" y="1825625"/>
            <a:ext cx="11448789" cy="3259942"/>
          </a:xfrm>
        </p:spPr>
        <p:txBody>
          <a:bodyPr>
            <a:normAutofit fontScale="62500" lnSpcReduction="20000"/>
          </a:bodyPr>
          <a:lstStyle/>
          <a:p>
            <a:pPr marL="0" indent="0" algn="ctr">
              <a:lnSpc>
                <a:spcPct val="120000"/>
              </a:lnSpc>
              <a:spcBef>
                <a:spcPts val="0"/>
              </a:spcBef>
              <a:buNone/>
            </a:pPr>
            <a:r>
              <a:rPr lang="es-ES" sz="2900" b="1" dirty="0">
                <a:solidFill>
                  <a:schemeClr val="accent2">
                    <a:lumMod val="75000"/>
                  </a:schemeClr>
                </a:solidFill>
              </a:rPr>
              <a:t>ERA DE LA CONSOLIDACIÓN Y TRANSICIÓN (2010 - PRESENTE)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s-ES" sz="2900" b="1" dirty="0"/>
              <a:t>Windows </a:t>
            </a:r>
            <a:r>
              <a:rPr lang="es-ES" sz="2900" b="1" dirty="0" err="1"/>
              <a:t>Phone</a:t>
            </a:r>
            <a:r>
              <a:rPr lang="es-ES" sz="2900" b="1" dirty="0"/>
              <a:t> </a:t>
            </a:r>
            <a:r>
              <a:rPr lang="es-ES" sz="2900" dirty="0"/>
              <a:t>(Microsoft - 2010): Un intento radical de Microsoft por recuperar el terreno perdido.</a:t>
            </a:r>
          </a:p>
          <a:p>
            <a:pPr lvl="1" algn="just">
              <a:lnSpc>
                <a:spcPct val="12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s-ES" sz="2900" dirty="0"/>
              <a:t>Reemplazó a Windows Mobile con una interfaz totalmente renovada basada en bloques dinámicos (Live Tiles).</a:t>
            </a:r>
          </a:p>
          <a:p>
            <a:pPr lvl="1" algn="just">
              <a:lnSpc>
                <a:spcPct val="12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s-ES" sz="2900" dirty="0"/>
              <a:t>Excelente fluidez incluso en teléfonos de gama baja e integración nativa con Windows de escritorio.</a:t>
            </a:r>
          </a:p>
          <a:p>
            <a:pPr lvl="1" algn="just">
              <a:lnSpc>
                <a:spcPct val="12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s-ES" sz="2900" dirty="0"/>
              <a:t>Fracasó por falta de apoyo de los desarrolladores y la ausencia de apps clave en su tienda.</a:t>
            </a: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es-ES" sz="2900" dirty="0"/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s-ES" sz="2900" b="1" dirty="0" err="1"/>
              <a:t>HarmonyOS</a:t>
            </a:r>
            <a:r>
              <a:rPr lang="es-ES" sz="2900" dirty="0"/>
              <a:t> (Huawei - 2019): Desarrollado a contrarreloj tras el veto comercial de EE. UU. que impidió a Huawei utilizar los servicios móviles de Google (GMS).</a:t>
            </a:r>
          </a:p>
          <a:p>
            <a:pPr lvl="1" algn="just">
              <a:lnSpc>
                <a:spcPct val="12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s-ES" sz="2900" dirty="0"/>
              <a:t>Un sistema operativo </a:t>
            </a:r>
            <a:r>
              <a:rPr lang="es-ES" sz="2900" b="1" dirty="0"/>
              <a:t>distribuido</a:t>
            </a:r>
            <a:r>
              <a:rPr lang="es-ES" sz="2900" dirty="0"/>
              <a:t> diseñado para la era del Internet de las Cosas (</a:t>
            </a:r>
            <a:r>
              <a:rPr lang="es-ES" sz="2900" dirty="0" err="1"/>
              <a:t>IoT</a:t>
            </a:r>
            <a:r>
              <a:rPr lang="es-ES" sz="2900" dirty="0"/>
              <a:t>).</a:t>
            </a:r>
          </a:p>
          <a:p>
            <a:pPr lvl="1" algn="just">
              <a:lnSpc>
                <a:spcPct val="12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s-ES" sz="2900" dirty="0"/>
              <a:t>Permite conectar y sincronizar instantáneamente teléfonos, relojes, televisores y pantallas de autos bajo una sola arquitectura modular.</a:t>
            </a: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es-ES" sz="33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0D14825-C61B-4B72-BC27-8BF7DD36D9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4629" y="4697654"/>
            <a:ext cx="3562741" cy="2003052"/>
          </a:xfrm>
          <a:prstGeom prst="rect">
            <a:avLst/>
          </a:prstGeom>
        </p:spPr>
      </p:pic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BA74295-63A1-4F62-8F93-46FCA627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FD7E6-E654-4EF8-A341-A3F234C52C34}" type="slidenum">
              <a:rPr lang="es-MX" smtClean="0"/>
              <a:t>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639815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186518-F6C0-4CB1-AEFE-470D5EF2F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ES" sz="3600" dirty="0"/>
              <a:t>De la Antigüedad a la Modernidad</a:t>
            </a:r>
            <a:endParaRPr lang="es-MX" sz="3600" dirty="0"/>
          </a:p>
        </p:txBody>
      </p:sp>
      <p:graphicFrame>
        <p:nvGraphicFramePr>
          <p:cNvPr id="8" name="Marcador de contenido 7">
            <a:extLst>
              <a:ext uri="{FF2B5EF4-FFF2-40B4-BE49-F238E27FC236}">
                <a16:creationId xmlns:a16="http://schemas.microsoft.com/office/drawing/2014/main" id="{579B9223-DD05-4A01-A387-83FEE75A8F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67015140"/>
              </p:ext>
            </p:extLst>
          </p:nvPr>
        </p:nvGraphicFramePr>
        <p:xfrm>
          <a:off x="830263" y="1878903"/>
          <a:ext cx="10515600" cy="45415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418605832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6045001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1888040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5112624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303739571"/>
                    </a:ext>
                  </a:extLst>
                </a:gridCol>
              </a:tblGrid>
              <a:tr h="515133">
                <a:tc>
                  <a:txBody>
                    <a:bodyPr/>
                    <a:lstStyle/>
                    <a:p>
                      <a:pPr algn="ctr"/>
                      <a:r>
                        <a:rPr lang="es-MX" sz="1800" dirty="0">
                          <a:effectLst/>
                        </a:rPr>
                        <a:t>Sistema Operativo</a:t>
                      </a:r>
                      <a:endParaRPr lang="es-MX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>
                          <a:effectLst/>
                        </a:rPr>
                        <a:t>Año de Lanzamiento</a:t>
                      </a:r>
                      <a:endParaRPr lang="es-MX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>
                          <a:effectLst/>
                        </a:rPr>
                        <a:t>Estado Actual</a:t>
                      </a:r>
                      <a:endParaRPr lang="es-MX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>
                          <a:effectLst/>
                        </a:rPr>
                        <a:t>Modelo de Código</a:t>
                      </a:r>
                      <a:endParaRPr lang="es-MX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>
                          <a:effectLst/>
                        </a:rPr>
                        <a:t>Público / Enfoque Objetivo</a:t>
                      </a:r>
                      <a:endParaRPr lang="es-MX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99363413"/>
                  </a:ext>
                </a:extLst>
              </a:tr>
              <a:tr h="515133">
                <a:tc>
                  <a:txBody>
                    <a:bodyPr/>
                    <a:lstStyle/>
                    <a:p>
                      <a:pPr algn="ctr"/>
                      <a:r>
                        <a:rPr lang="es-MX" sz="1800" dirty="0">
                          <a:effectLst/>
                        </a:rPr>
                        <a:t>Windows Mobile</a:t>
                      </a:r>
                      <a:endParaRPr lang="es-MX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>
                          <a:effectLst/>
                        </a:rPr>
                        <a:t>1996</a:t>
                      </a:r>
                      <a:endParaRPr lang="es-MX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>
                          <a:effectLst/>
                        </a:rPr>
                        <a:t>🛑 Descontinuado</a:t>
                      </a:r>
                      <a:endParaRPr lang="es-MX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>
                          <a:effectLst/>
                        </a:rPr>
                        <a:t>Cerrado</a:t>
                      </a:r>
                      <a:endParaRPr lang="es-MX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1800" dirty="0">
                          <a:effectLst/>
                        </a:rPr>
                        <a:t>Empresarios / Uso con </a:t>
                      </a:r>
                      <a:r>
                        <a:rPr lang="es-MX" sz="1800" dirty="0" err="1">
                          <a:effectLst/>
                        </a:rPr>
                        <a:t>stylus</a:t>
                      </a:r>
                      <a:endParaRPr lang="es-MX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824634032"/>
                  </a:ext>
                </a:extLst>
              </a:tr>
              <a:tr h="515133">
                <a:tc>
                  <a:txBody>
                    <a:bodyPr/>
                    <a:lstStyle/>
                    <a:p>
                      <a:pPr algn="ctr"/>
                      <a:r>
                        <a:rPr lang="es-MX" sz="1800" dirty="0">
                          <a:effectLst/>
                        </a:rPr>
                        <a:t>Symbian OS</a:t>
                      </a:r>
                      <a:endParaRPr lang="es-MX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>
                          <a:effectLst/>
                        </a:rPr>
                        <a:t>1998</a:t>
                      </a:r>
                      <a:endParaRPr lang="es-MX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>
                          <a:effectLst/>
                        </a:rPr>
                        <a:t>🛑 Descontinuado</a:t>
                      </a:r>
                      <a:endParaRPr lang="es-MX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>
                          <a:effectLst/>
                        </a:rPr>
                        <a:t>Abierto (al final)</a:t>
                      </a:r>
                      <a:endParaRPr lang="es-MX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1800" dirty="0">
                          <a:effectLst/>
                        </a:rPr>
                        <a:t>Consumo masivo multimedia</a:t>
                      </a:r>
                      <a:endParaRPr lang="es-MX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17995296"/>
                  </a:ext>
                </a:extLst>
              </a:tr>
              <a:tr h="515133">
                <a:tc>
                  <a:txBody>
                    <a:bodyPr/>
                    <a:lstStyle/>
                    <a:p>
                      <a:pPr algn="ctr"/>
                      <a:r>
                        <a:rPr lang="es-MX" sz="1800">
                          <a:effectLst/>
                        </a:rPr>
                        <a:t>BlackBerry OS</a:t>
                      </a:r>
                      <a:endParaRPr lang="es-MX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>
                          <a:effectLst/>
                        </a:rPr>
                        <a:t>1999</a:t>
                      </a:r>
                      <a:endParaRPr lang="es-MX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>
                          <a:effectLst/>
                        </a:rPr>
                        <a:t>🛑 Descontinuado</a:t>
                      </a:r>
                      <a:endParaRPr lang="es-MX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>
                          <a:effectLst/>
                        </a:rPr>
                        <a:t>Cerrado</a:t>
                      </a:r>
                      <a:endParaRPr lang="es-MX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1800" dirty="0">
                          <a:effectLst/>
                        </a:rPr>
                        <a:t>Corporativo y seguridad</a:t>
                      </a:r>
                      <a:endParaRPr lang="es-MX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803880155"/>
                  </a:ext>
                </a:extLst>
              </a:tr>
              <a:tr h="515133">
                <a:tc>
                  <a:txBody>
                    <a:bodyPr/>
                    <a:lstStyle/>
                    <a:p>
                      <a:pPr algn="ctr"/>
                      <a:r>
                        <a:rPr lang="es-MX" sz="1800">
                          <a:effectLst/>
                        </a:rPr>
                        <a:t>iOS</a:t>
                      </a:r>
                      <a:endParaRPr lang="es-MX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>
                          <a:effectLst/>
                        </a:rPr>
                        <a:t>2007</a:t>
                      </a:r>
                      <a:endParaRPr lang="es-MX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>
                          <a:effectLst/>
                        </a:rPr>
                        <a:t>Vigente</a:t>
                      </a:r>
                      <a:endParaRPr lang="es-MX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>
                          <a:effectLst/>
                        </a:rPr>
                        <a:t>Cerrado</a:t>
                      </a:r>
                      <a:endParaRPr lang="es-MX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1800" dirty="0">
                          <a:effectLst/>
                        </a:rPr>
                        <a:t>Gama alta y ecosistema Apple</a:t>
                      </a:r>
                      <a:endParaRPr lang="es-MX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95116171"/>
                  </a:ext>
                </a:extLst>
              </a:tr>
              <a:tr h="515133">
                <a:tc>
                  <a:txBody>
                    <a:bodyPr/>
                    <a:lstStyle/>
                    <a:p>
                      <a:pPr algn="ctr"/>
                      <a:r>
                        <a:rPr lang="es-MX" sz="1800">
                          <a:effectLst/>
                        </a:rPr>
                        <a:t>Android</a:t>
                      </a:r>
                      <a:endParaRPr lang="es-MX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>
                          <a:effectLst/>
                        </a:rPr>
                        <a:t>2008</a:t>
                      </a:r>
                      <a:endParaRPr lang="es-MX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>
                          <a:effectLst/>
                        </a:rPr>
                        <a:t>Vigente</a:t>
                      </a:r>
                      <a:endParaRPr lang="es-MX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>
                          <a:effectLst/>
                        </a:rPr>
                        <a:t>Abierto (AOSP)</a:t>
                      </a:r>
                      <a:endParaRPr lang="es-MX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1800" dirty="0">
                          <a:effectLst/>
                        </a:rPr>
                        <a:t>Global, masivo y personalizable</a:t>
                      </a:r>
                      <a:endParaRPr lang="es-MX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089287"/>
                  </a:ext>
                </a:extLst>
              </a:tr>
              <a:tr h="515133">
                <a:tc>
                  <a:txBody>
                    <a:bodyPr/>
                    <a:lstStyle/>
                    <a:p>
                      <a:pPr algn="ctr"/>
                      <a:r>
                        <a:rPr lang="es-MX" sz="1800">
                          <a:effectLst/>
                        </a:rPr>
                        <a:t>Windows Phone</a:t>
                      </a:r>
                      <a:endParaRPr lang="es-MX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>
                          <a:effectLst/>
                        </a:rPr>
                        <a:t>2010</a:t>
                      </a:r>
                      <a:endParaRPr lang="es-MX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>
                          <a:effectLst/>
                        </a:rPr>
                        <a:t>🛑 Descontinuado</a:t>
                      </a:r>
                      <a:endParaRPr lang="es-MX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>
                          <a:effectLst/>
                        </a:rPr>
                        <a:t>Cerrado</a:t>
                      </a:r>
                      <a:endParaRPr lang="es-MX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1800" dirty="0">
                          <a:effectLst/>
                        </a:rPr>
                        <a:t>Alternativa fluida integrada a PC</a:t>
                      </a:r>
                      <a:endParaRPr lang="es-MX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25594800"/>
                  </a:ext>
                </a:extLst>
              </a:tr>
              <a:tr h="515133">
                <a:tc>
                  <a:txBody>
                    <a:bodyPr/>
                    <a:lstStyle/>
                    <a:p>
                      <a:pPr algn="ctr"/>
                      <a:r>
                        <a:rPr lang="es-MX" sz="1800">
                          <a:effectLst/>
                        </a:rPr>
                        <a:t>HarmonyOS</a:t>
                      </a:r>
                      <a:endParaRPr lang="es-MX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>
                          <a:effectLst/>
                        </a:rPr>
                        <a:t>2019</a:t>
                      </a:r>
                      <a:endParaRPr lang="es-MX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>
                          <a:effectLst/>
                        </a:rPr>
                        <a:t>Vigente</a:t>
                      </a:r>
                      <a:endParaRPr lang="es-MX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>
                          <a:effectLst/>
                        </a:rPr>
                        <a:t>Híbrido</a:t>
                      </a:r>
                      <a:endParaRPr lang="es-MX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1800" dirty="0">
                          <a:effectLst/>
                        </a:rPr>
                        <a:t>Ecosistema interconectado (</a:t>
                      </a:r>
                      <a:r>
                        <a:rPr lang="es-MX" sz="1800" dirty="0" err="1">
                          <a:effectLst/>
                        </a:rPr>
                        <a:t>IoT</a:t>
                      </a:r>
                      <a:r>
                        <a:rPr lang="es-MX" sz="1800" dirty="0">
                          <a:effectLst/>
                        </a:rPr>
                        <a:t>)</a:t>
                      </a:r>
                      <a:endParaRPr lang="es-MX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795862000"/>
                  </a:ext>
                </a:extLst>
              </a:tr>
            </a:tbl>
          </a:graphicData>
        </a:graphic>
      </p:graphicFrame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46095E9-28A6-40DA-A71E-E32A8E0EB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FD7E6-E654-4EF8-A341-A3F234C52C34}" type="slidenum">
              <a:rPr lang="es-MX" smtClean="0"/>
              <a:t>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754897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186518-F6C0-4CB1-AEFE-470D5EF2F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ES" sz="3600" dirty="0"/>
              <a:t>Revolución Táctil: Gigantes Actuales (2007 - Presente)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49D59E5-736B-4B64-A65E-0B437EDDF2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754" y="1825624"/>
            <a:ext cx="6719561" cy="4938431"/>
          </a:xfrm>
        </p:spPr>
        <p:txBody>
          <a:bodyPr>
            <a:normAutofit/>
          </a:bodyPr>
          <a:lstStyle/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es-ES" sz="1800" b="1" dirty="0"/>
              <a:t>iOS</a:t>
            </a:r>
            <a:r>
              <a:rPr lang="es-ES" sz="1800" dirty="0"/>
              <a:t> (Apple - 2007): Lanzado originalmente como iPhone OS.</a:t>
            </a:r>
          </a:p>
          <a:p>
            <a:pPr lvl="1" algn="just">
              <a:lnSpc>
                <a:spcPct val="11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s-ES" sz="1800" dirty="0"/>
              <a:t>Revolucionó la industria al introducir una interfaz diseñada 100% para los dedos mediante gestos </a:t>
            </a:r>
            <a:r>
              <a:rPr lang="es-ES" sz="1800" b="1" dirty="0"/>
              <a:t>multitáctiles</a:t>
            </a:r>
            <a:r>
              <a:rPr lang="es-ES" sz="1800" dirty="0"/>
              <a:t> fluidos.</a:t>
            </a:r>
          </a:p>
          <a:p>
            <a:pPr lvl="1" algn="just">
              <a:lnSpc>
                <a:spcPct val="11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s-ES" sz="1800" dirty="0"/>
              <a:t>Ecosistema de </a:t>
            </a:r>
            <a:r>
              <a:rPr lang="es-ES" sz="1800" b="1" dirty="0"/>
              <a:t>código cerrado</a:t>
            </a:r>
            <a:r>
              <a:rPr lang="es-ES" sz="1800" dirty="0"/>
              <a:t>, un estricto enfoque en la privacidad y optimización del hardware, junto al nacimiento de la App Store, que cambió la </a:t>
            </a:r>
            <a:r>
              <a:rPr lang="es-ES" sz="1800" b="1" dirty="0"/>
              <a:t>distribución de software </a:t>
            </a:r>
            <a:r>
              <a:rPr lang="es-ES" sz="1800" dirty="0"/>
              <a:t>para siempre.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es-ES" sz="1800" b="1" dirty="0"/>
              <a:t>Android</a:t>
            </a:r>
            <a:r>
              <a:rPr lang="es-ES" sz="1800" dirty="0"/>
              <a:t> (Google - 2008): Desarrollado inicialmente por Android Inc. y adquirido por Google.</a:t>
            </a:r>
          </a:p>
          <a:p>
            <a:pPr lvl="1" algn="just">
              <a:lnSpc>
                <a:spcPct val="11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s-ES" sz="1800" dirty="0"/>
              <a:t>Nació como la respuesta abierta y flexible al monopolio que planeaba Apple.</a:t>
            </a:r>
          </a:p>
          <a:p>
            <a:pPr lvl="1" algn="just">
              <a:lnSpc>
                <a:spcPct val="11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s-ES" sz="1800" dirty="0"/>
              <a:t>Software de </a:t>
            </a:r>
            <a:r>
              <a:rPr lang="es-ES" sz="1800" b="1" dirty="0"/>
              <a:t>código abierto </a:t>
            </a:r>
            <a:r>
              <a:rPr lang="es-ES" sz="1800" dirty="0"/>
              <a:t>basado en el </a:t>
            </a:r>
            <a:r>
              <a:rPr lang="es-ES" sz="1800" b="1" dirty="0" err="1"/>
              <a:t>kernel</a:t>
            </a:r>
            <a:r>
              <a:rPr lang="es-ES" sz="1800" b="1" dirty="0"/>
              <a:t> de Linux</a:t>
            </a:r>
            <a:r>
              <a:rPr lang="es-ES" sz="1800" dirty="0"/>
              <a:t>. Permite un nivel extremo de personalización, instalación de </a:t>
            </a:r>
            <a:r>
              <a:rPr lang="es-ES" sz="1800" b="1" dirty="0"/>
              <a:t>tiendas alternativas </a:t>
            </a:r>
            <a:r>
              <a:rPr lang="es-ES" sz="1800" dirty="0"/>
              <a:t>y está adaptado por cientos de fabricantes globales de hardware.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F2F38C9-69EE-4222-AD51-176C1AB10B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9836" y="1725195"/>
            <a:ext cx="4882410" cy="4944549"/>
          </a:xfrm>
          <a:prstGeom prst="rect">
            <a:avLst/>
          </a:prstGeom>
        </p:spPr>
      </p:pic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81B45E6-ED9A-49EF-B194-B3EA344EF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FD7E6-E654-4EF8-A341-A3F234C52C34}" type="slidenum">
              <a:rPr lang="es-MX" smtClean="0"/>
              <a:t>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13009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62644F21-0F4C-472E-AC8B-5CA0AAFD32F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91" t="13516" r="3596" b="14338"/>
          <a:stretch/>
        </p:blipFill>
        <p:spPr>
          <a:xfrm>
            <a:off x="41710" y="265468"/>
            <a:ext cx="12150289" cy="6592533"/>
          </a:xfrm>
          <a:prstGeom prst="rect">
            <a:avLst/>
          </a:prstGeom>
        </p:spPr>
      </p:pic>
      <p:sp>
        <p:nvSpPr>
          <p:cNvPr id="11" name="Marcador de número de diapositiva 10">
            <a:extLst>
              <a:ext uri="{FF2B5EF4-FFF2-40B4-BE49-F238E27FC236}">
                <a16:creationId xmlns:a16="http://schemas.microsoft.com/office/drawing/2014/main" id="{8C782E1C-B766-4AE6-AC89-76DBC5921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FD7E6-E654-4EF8-A341-A3F234C52C34}" type="slidenum">
              <a:rPr lang="es-MX" smtClean="0"/>
              <a:t>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067071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186518-F6C0-4CB1-AEFE-470D5EF2F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ES" sz="3600" dirty="0"/>
              <a:t>Los sistemas operativos móviles más utilizados </a:t>
            </a:r>
            <a:endParaRPr lang="es-MX" sz="36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410B94A-2B48-4AFC-A9D1-1BFB885FB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4321" y="1933358"/>
            <a:ext cx="7103301" cy="4788117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buNone/>
            </a:pPr>
            <a:r>
              <a:rPr lang="es-ES" dirty="0"/>
              <a:t>Los sistemas operativos móviles más utilizados en el mundo: </a:t>
            </a:r>
            <a:r>
              <a:rPr lang="es-ES" b="1" dirty="0"/>
              <a:t>Android</a:t>
            </a:r>
            <a:r>
              <a:rPr lang="es-ES" dirty="0"/>
              <a:t> y </a:t>
            </a:r>
            <a:r>
              <a:rPr lang="es-ES" b="1" dirty="0"/>
              <a:t>iOS</a:t>
            </a:r>
            <a:r>
              <a:rPr lang="es-ES" dirty="0"/>
              <a:t>.</a:t>
            </a:r>
          </a:p>
          <a:p>
            <a:pPr marL="0" indent="0" algn="just">
              <a:buNone/>
            </a:pPr>
            <a:r>
              <a:rPr lang="es-ES" dirty="0"/>
              <a:t>Juntos dominan prácticamente el 100% del mercado global de teléfonos inteligentes, dejando una participación mínima para una tercera alternativa emergente.</a:t>
            </a:r>
          </a:p>
          <a:p>
            <a:pPr marL="0" indent="0" algn="ctr">
              <a:buNone/>
            </a:pPr>
            <a:r>
              <a:rPr lang="es-ES" b="1" dirty="0"/>
              <a:t>Los líderes del mercado móvil</a:t>
            </a:r>
          </a:p>
          <a:p>
            <a:pPr algn="just"/>
            <a:r>
              <a:rPr lang="es-ES" b="1" dirty="0"/>
              <a:t>Android</a:t>
            </a:r>
            <a:r>
              <a:rPr lang="es-ES" dirty="0"/>
              <a:t> (Google): Es el líder indiscutible con 70% a nivel mundial. Sistema operativo de código abierto, es utilizado por Samsung, Xiaomi, Motorola, </a:t>
            </a:r>
            <a:r>
              <a:rPr lang="es-ES" dirty="0" err="1"/>
              <a:t>Oppo</a:t>
            </a:r>
            <a:r>
              <a:rPr lang="es-ES" dirty="0"/>
              <a:t> y Google Pixel.</a:t>
            </a:r>
          </a:p>
          <a:p>
            <a:pPr algn="just"/>
            <a:r>
              <a:rPr lang="es-ES" b="1" dirty="0"/>
              <a:t>iOS</a:t>
            </a:r>
            <a:r>
              <a:rPr lang="es-ES" dirty="0"/>
              <a:t> (Apple): Cuota de mercado global de 28-30%. Es un sistema exclusivo de Apple para sus dispositivos iPhone</a:t>
            </a:r>
          </a:p>
          <a:p>
            <a:pPr algn="just"/>
            <a:r>
              <a:rPr lang="es-ES" b="1" dirty="0" err="1"/>
              <a:t>HarmonyOS</a:t>
            </a:r>
            <a:r>
              <a:rPr lang="es-ES" dirty="0"/>
              <a:t> (Huawei): Tercera fuerza del mercado con más del 4%. Se concentra en China ha ganado un terreno considerable en los últimos años.</a:t>
            </a:r>
          </a:p>
          <a:p>
            <a:pPr algn="just"/>
            <a:r>
              <a:rPr lang="es-ES" b="1" dirty="0" err="1"/>
              <a:t>KaiOS</a:t>
            </a:r>
            <a:r>
              <a:rPr lang="es-ES" dirty="0"/>
              <a:t>: Sistema operativo móvil diseñado para teléfonos básicos (con teclado físico y sin pantalla táctil) que les otorga funciones de un teléfono inteligente. 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078E321-5B14-4C62-B50B-C26C721CA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FD7E6-E654-4EF8-A341-A3F234C52C34}" type="slidenum">
              <a:rPr lang="es-MX" smtClean="0"/>
              <a:t>9</a:t>
            </a:fld>
            <a:endParaRPr lang="es-MX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D5DA9D7-DBCF-4DE4-B80B-0EBD6FFBB84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41" t="4110" r="26484" b="7306"/>
          <a:stretch/>
        </p:blipFill>
        <p:spPr>
          <a:xfrm>
            <a:off x="7277622" y="2546160"/>
            <a:ext cx="4740057" cy="3299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0926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186518-F6C0-4CB1-AEFE-470D5EF2F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ES" sz="3600" dirty="0"/>
              <a:t>Diferencias de seguridad entre Android e iOS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410B94A-2B48-4AFC-A9D1-1BFB885FB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915" y="1690688"/>
            <a:ext cx="10910170" cy="5167312"/>
          </a:xfrm>
        </p:spPr>
        <p:txBody>
          <a:bodyPr>
            <a:noAutofit/>
          </a:bodyPr>
          <a:lstStyle/>
          <a:p>
            <a:pPr algn="just"/>
            <a:r>
              <a:rPr lang="es-ES" sz="1800" b="1" dirty="0"/>
              <a:t>iOS</a:t>
            </a:r>
            <a:r>
              <a:rPr lang="es-ES" sz="1800" dirty="0"/>
              <a:t> es generalmente más seguro debido a su naturaleza cerrada.</a:t>
            </a:r>
          </a:p>
          <a:p>
            <a:pPr algn="just"/>
            <a:r>
              <a:rPr lang="es-ES" sz="1800" b="1" dirty="0"/>
              <a:t>Android</a:t>
            </a:r>
            <a:r>
              <a:rPr lang="es-ES" sz="1800" dirty="0"/>
              <a:t> ofrece mayor flexibilidad pero requiere más precaución por parte del usuario.</a:t>
            </a:r>
          </a:p>
          <a:p>
            <a:pPr marL="457200" lvl="1" indent="0" algn="just">
              <a:buNone/>
            </a:pPr>
            <a:r>
              <a:rPr lang="es-ES" sz="1800" dirty="0"/>
              <a:t>Ambas plataformas son maduras y seguras hoy en día, pero con enfoques radicalmente opuestos:</a:t>
            </a:r>
          </a:p>
          <a:p>
            <a:pPr algn="just"/>
            <a:r>
              <a:rPr lang="es-ES" sz="1800" dirty="0"/>
              <a:t>Ecosistema cerrado frente a abierto:</a:t>
            </a:r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es-ES" sz="1800" b="1" dirty="0"/>
              <a:t>Apple</a:t>
            </a:r>
            <a:r>
              <a:rPr lang="es-ES" sz="1800" dirty="0"/>
              <a:t> controla tanto el hardware como el software (</a:t>
            </a:r>
            <a:r>
              <a:rPr lang="es-ES" sz="1800" dirty="0" err="1"/>
              <a:t>sandbox</a:t>
            </a:r>
            <a:r>
              <a:rPr lang="es-ES" sz="1800" dirty="0"/>
              <a:t> estricto), esto reduce drásticamente la entrada de malware en la App Store de Apple.</a:t>
            </a:r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es-ES" sz="1800" b="1" dirty="0"/>
              <a:t>Android</a:t>
            </a:r>
            <a:r>
              <a:rPr lang="es-ES" sz="1800" dirty="0"/>
              <a:t>, al ser de código abierto, permite la instalación de aplicaciones desde tiendas de terceros o archivos APK externos, lo que eleva el riesgo si el usuario no es precavido.</a:t>
            </a:r>
          </a:p>
          <a:p>
            <a:pPr algn="just"/>
            <a:r>
              <a:rPr lang="es-ES" sz="1800" dirty="0"/>
              <a:t>Actualizaciones de seguridad:</a:t>
            </a:r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es-ES" sz="1800" b="1" dirty="0"/>
              <a:t>Apple</a:t>
            </a:r>
            <a:r>
              <a:rPr lang="es-ES" sz="1800" dirty="0"/>
              <a:t> distribuye los parches de seguridad de forma simultánea a todos los iPhone compatibles del mundo.</a:t>
            </a:r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es-ES" sz="1800" dirty="0"/>
              <a:t>En </a:t>
            </a:r>
            <a:r>
              <a:rPr lang="es-ES" sz="1800" b="1" dirty="0"/>
              <a:t>Android</a:t>
            </a:r>
            <a:r>
              <a:rPr lang="es-ES" sz="1800" dirty="0"/>
              <a:t>, Google lanza los parches mensualmente, pero cada fabricante (Samsung, Xiaomi, etc.) debe adaptarlos a sus teléfonos, lo que suele causar retrasos en la fragmentación de dispositivos.</a:t>
            </a:r>
          </a:p>
          <a:p>
            <a:pPr algn="just"/>
            <a:r>
              <a:rPr lang="es-ES" sz="1800" dirty="0"/>
              <a:t>Privacidad de datos:</a:t>
            </a:r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es-ES" sz="1800" b="1" dirty="0"/>
              <a:t>iOS</a:t>
            </a:r>
            <a:r>
              <a:rPr lang="es-ES" sz="1800" dirty="0"/>
              <a:t> incluye funciones nativas muy estrictas como el bloqueo del rastreo de apps de terceros (App Tracking </a:t>
            </a:r>
            <a:r>
              <a:rPr lang="es-ES" sz="1800" dirty="0" err="1"/>
              <a:t>Transparency</a:t>
            </a:r>
            <a:r>
              <a:rPr lang="es-ES" sz="1800" dirty="0"/>
              <a:t>).</a:t>
            </a:r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es-ES" sz="1800" b="1" dirty="0"/>
              <a:t>Google</a:t>
            </a:r>
            <a:r>
              <a:rPr lang="es-ES" sz="1800" dirty="0"/>
              <a:t>, al ser una empresa que vive de la publicidad, recopila más datos de uso para la personalización de anuncios, aunque ha mejorado mucho sus permisos en las versiones recientes de Android.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02E4990-222E-4936-98C3-7150C9508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FD7E6-E654-4EF8-A341-A3F234C52C34}" type="slidenum">
              <a:rPr lang="es-MX" smtClean="0"/>
              <a:t>10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999038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186518-F6C0-4CB1-AEFE-470D5EF2F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ES" sz="3600" dirty="0"/>
              <a:t>La guerra de las comisiones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6E6DC018-C277-493C-9428-68748B0A7B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1750" y="1891430"/>
            <a:ext cx="11447028" cy="3908121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02E4990-222E-4936-98C3-7150C9508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FD7E6-E654-4EF8-A341-A3F234C52C34}" type="slidenum">
              <a:rPr lang="es-MX" smtClean="0"/>
              <a:t>11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114357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186518-F6C0-4CB1-AEFE-470D5EF2F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ES" sz="3600" dirty="0"/>
              <a:t>Capas de personalización de </a:t>
            </a:r>
            <a:r>
              <a:rPr lang="es-ES" sz="3600" b="1" dirty="0"/>
              <a:t>Android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410B94A-2B48-4AFC-A9D1-1BFB885FB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3148" y="1825625"/>
            <a:ext cx="10515600" cy="493843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sz="2000" b="1" dirty="0"/>
              <a:t>Capa de personalización</a:t>
            </a:r>
            <a:r>
              <a:rPr lang="es-ES" sz="2000" dirty="0"/>
              <a:t>: Interfaz de usuario modificada que los fabricantes de teléfonos añaden sobre el sistema operativo Android puro (el código base que entrega Google).</a:t>
            </a:r>
          </a:p>
          <a:p>
            <a:pPr marL="0" indent="0" algn="just">
              <a:buNone/>
            </a:pPr>
            <a:endParaRPr lang="es-ES" sz="2600" dirty="0"/>
          </a:p>
          <a:p>
            <a:pPr marL="0" indent="0" algn="just">
              <a:buNone/>
            </a:pPr>
            <a:endParaRPr lang="es-ES" sz="260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02E4990-222E-4936-98C3-7150C9508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FD7E6-E654-4EF8-A341-A3F234C52C34}" type="slidenum">
              <a:rPr lang="es-MX" smtClean="0"/>
              <a:t>12</a:t>
            </a:fld>
            <a:endParaRPr lang="es-MX"/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C2A3408B-0497-434D-A61B-15EA64BB6E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9094544"/>
              </p:ext>
            </p:extLst>
          </p:nvPr>
        </p:nvGraphicFramePr>
        <p:xfrm>
          <a:off x="1345243" y="2401605"/>
          <a:ext cx="9451410" cy="436245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150470">
                  <a:extLst>
                    <a:ext uri="{9D8B030D-6E8A-4147-A177-3AD203B41FA5}">
                      <a16:colId xmlns:a16="http://schemas.microsoft.com/office/drawing/2014/main" val="3649517307"/>
                    </a:ext>
                  </a:extLst>
                </a:gridCol>
                <a:gridCol w="3150470">
                  <a:extLst>
                    <a:ext uri="{9D8B030D-6E8A-4147-A177-3AD203B41FA5}">
                      <a16:colId xmlns:a16="http://schemas.microsoft.com/office/drawing/2014/main" val="2180469814"/>
                    </a:ext>
                  </a:extLst>
                </a:gridCol>
                <a:gridCol w="3150470">
                  <a:extLst>
                    <a:ext uri="{9D8B030D-6E8A-4147-A177-3AD203B41FA5}">
                      <a16:colId xmlns:a16="http://schemas.microsoft.com/office/drawing/2014/main" val="3538039101"/>
                    </a:ext>
                  </a:extLst>
                </a:gridCol>
              </a:tblGrid>
              <a:tr h="562308">
                <a:tc>
                  <a:txBody>
                    <a:bodyPr/>
                    <a:lstStyle/>
                    <a:p>
                      <a:pPr algn="ctr"/>
                      <a:r>
                        <a:rPr lang="es-MX" sz="2000" dirty="0">
                          <a:effectLst/>
                        </a:rPr>
                        <a:t>Característica</a:t>
                      </a:r>
                      <a:endParaRPr lang="es-MX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000" dirty="0">
                          <a:effectLst/>
                        </a:rPr>
                        <a:t>Android Puro (Google Pixel / Motorola)</a:t>
                      </a:r>
                      <a:endParaRPr lang="es-MX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000" dirty="0">
                          <a:effectLst/>
                        </a:rPr>
                        <a:t>Capa de Personalización (</a:t>
                      </a:r>
                      <a:r>
                        <a:rPr lang="es-MX" sz="2000" dirty="0" err="1">
                          <a:effectLst/>
                        </a:rPr>
                        <a:t>One</a:t>
                      </a:r>
                      <a:r>
                        <a:rPr lang="es-MX" sz="2000" dirty="0">
                          <a:effectLst/>
                        </a:rPr>
                        <a:t> UI / </a:t>
                      </a:r>
                      <a:r>
                        <a:rPr lang="es-MX" sz="2000" dirty="0" err="1">
                          <a:effectLst/>
                        </a:rPr>
                        <a:t>HyperOS</a:t>
                      </a:r>
                      <a:r>
                        <a:rPr lang="es-MX" sz="2000" dirty="0">
                          <a:effectLst/>
                        </a:rPr>
                        <a:t>)</a:t>
                      </a:r>
                      <a:endParaRPr lang="es-MX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917600410"/>
                  </a:ext>
                </a:extLst>
              </a:tr>
              <a:tr h="562308">
                <a:tc>
                  <a:txBody>
                    <a:bodyPr/>
                    <a:lstStyle/>
                    <a:p>
                      <a:pPr algn="ctr"/>
                      <a:r>
                        <a:rPr lang="es-MX" sz="2000" dirty="0">
                          <a:effectLst/>
                        </a:rPr>
                        <a:t>Estética</a:t>
                      </a:r>
                      <a:endParaRPr lang="es-MX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2000" dirty="0">
                          <a:effectLst/>
                        </a:rPr>
                        <a:t>Minimalista, limpia y uniforme.</a:t>
                      </a:r>
                      <a:endParaRPr lang="es-MX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2000" dirty="0">
                          <a:effectLst/>
                        </a:rPr>
                        <a:t>Varía por marca; suele ser más colorida o futurista.</a:t>
                      </a:r>
                      <a:endParaRPr lang="es-MX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00055687"/>
                  </a:ext>
                </a:extLst>
              </a:tr>
              <a:tr h="1380210">
                <a:tc>
                  <a:txBody>
                    <a:bodyPr/>
                    <a:lstStyle/>
                    <a:p>
                      <a:pPr algn="ctr"/>
                      <a:r>
                        <a:rPr lang="es-MX" sz="2000">
                          <a:effectLst/>
                        </a:rPr>
                        <a:t>Rendimiento</a:t>
                      </a:r>
                      <a:endParaRPr lang="es-MX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2000" dirty="0">
                          <a:effectLst/>
                        </a:rPr>
                        <a:t>Muy fluido y ligero (sin aplicaciones basura o </a:t>
                      </a:r>
                      <a:r>
                        <a:rPr lang="es-MX" sz="2000" dirty="0" err="1">
                          <a:effectLst/>
                        </a:rPr>
                        <a:t>bloatware</a:t>
                      </a:r>
                      <a:r>
                        <a:rPr lang="es-MX" sz="2000" dirty="0">
                          <a:effectLst/>
                        </a:rPr>
                        <a:t>, </a:t>
                      </a:r>
                      <a:r>
                        <a:rPr lang="es-ES" sz="2000" dirty="0">
                          <a:effectLst/>
                        </a:rPr>
                        <a:t>o software inflado, sin que el usuario lo haya pedido.</a:t>
                      </a:r>
                      <a:endParaRPr lang="es-MX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2000">
                          <a:effectLst/>
                        </a:rPr>
                        <a:t>Puede ser más pesado, pero incluye optimizaciones del fabricante.</a:t>
                      </a:r>
                      <a:endParaRPr lang="es-MX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87622421"/>
                  </a:ext>
                </a:extLst>
              </a:tr>
              <a:tr h="834942">
                <a:tc>
                  <a:txBody>
                    <a:bodyPr/>
                    <a:lstStyle/>
                    <a:p>
                      <a:pPr algn="ctr"/>
                      <a:r>
                        <a:rPr lang="es-MX" sz="2000">
                          <a:effectLst/>
                        </a:rPr>
                        <a:t>Funciones</a:t>
                      </a:r>
                      <a:endParaRPr lang="es-MX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2000">
                          <a:effectLst/>
                        </a:rPr>
                        <a:t>Las herramientas esenciales de Google.</a:t>
                      </a:r>
                      <a:endParaRPr lang="es-MX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2000">
                          <a:effectLst/>
                        </a:rPr>
                        <a:t>Cientos de extras (grabar llamadas, duplicar apps, gestos avanzados).</a:t>
                      </a:r>
                      <a:endParaRPr lang="es-MX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020152007"/>
                  </a:ext>
                </a:extLst>
              </a:tr>
              <a:tr h="562308">
                <a:tc>
                  <a:txBody>
                    <a:bodyPr/>
                    <a:lstStyle/>
                    <a:p>
                      <a:pPr algn="ctr"/>
                      <a:r>
                        <a:rPr lang="es-MX" sz="2000" dirty="0">
                          <a:effectLst/>
                        </a:rPr>
                        <a:t>Actualizaciones</a:t>
                      </a:r>
                      <a:endParaRPr lang="es-MX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2000">
                          <a:effectLst/>
                        </a:rPr>
                        <a:t>Suelen ser más rápidas al no requerir adaptaciones.</a:t>
                      </a:r>
                      <a:endParaRPr lang="es-MX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2000" dirty="0">
                          <a:effectLst/>
                        </a:rPr>
                        <a:t>Tardan más debido al rediseño técnico necesario.</a:t>
                      </a:r>
                      <a:endParaRPr lang="es-MX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3406682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83596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186518-F6C0-4CB1-AEFE-470D5EF2F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ES" sz="3600" b="1" dirty="0"/>
              <a:t>Apple</a:t>
            </a:r>
            <a:r>
              <a:rPr lang="es-ES" sz="3600" dirty="0"/>
              <a:t> vs. </a:t>
            </a:r>
            <a:r>
              <a:rPr lang="es-ES" sz="3600" b="1" dirty="0" err="1"/>
              <a:t>Epic</a:t>
            </a:r>
            <a:r>
              <a:rPr lang="es-ES" sz="3600" b="1" dirty="0"/>
              <a:t> </a:t>
            </a:r>
            <a:r>
              <a:rPr lang="es-ES" sz="3600" b="1" dirty="0" err="1"/>
              <a:t>Games</a:t>
            </a:r>
            <a:r>
              <a:rPr lang="es-ES" sz="3600" b="1" dirty="0"/>
              <a:t> </a:t>
            </a:r>
            <a:r>
              <a:rPr lang="es-ES" sz="3600" dirty="0"/>
              <a:t>y las leyes que cambiaron todo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410B94A-2B48-4AFC-A9D1-1BFB885FB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255" y="1825625"/>
            <a:ext cx="8730641" cy="4938430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s-ES" sz="2600" dirty="0"/>
              <a:t>En 2020, </a:t>
            </a:r>
            <a:r>
              <a:rPr lang="es-ES" sz="2600" b="1" dirty="0" err="1"/>
              <a:t>Epic</a:t>
            </a:r>
            <a:r>
              <a:rPr lang="es-ES" sz="2600" b="1" dirty="0"/>
              <a:t> </a:t>
            </a:r>
            <a:r>
              <a:rPr lang="es-ES" sz="2600" b="1" dirty="0" err="1"/>
              <a:t>Games</a:t>
            </a:r>
            <a:r>
              <a:rPr lang="es-ES" sz="2600" dirty="0"/>
              <a:t> (creadores de </a:t>
            </a:r>
            <a:r>
              <a:rPr lang="es-ES" sz="2600" dirty="0" err="1"/>
              <a:t>Fortnite</a:t>
            </a:r>
            <a:r>
              <a:rPr lang="es-ES" sz="2600" dirty="0"/>
              <a:t>) desafió las reglas de </a:t>
            </a:r>
            <a:r>
              <a:rPr lang="es-ES" sz="2600" b="1" dirty="0"/>
              <a:t>Apple</a:t>
            </a:r>
            <a:r>
              <a:rPr lang="es-ES" sz="2600" dirty="0"/>
              <a:t> y </a:t>
            </a:r>
            <a:r>
              <a:rPr lang="es-ES" sz="2600" b="1" dirty="0"/>
              <a:t>Google</a:t>
            </a:r>
            <a:r>
              <a:rPr lang="es-ES" sz="2600" dirty="0"/>
              <a:t> al introducir un método de pago directo dentro del juego, saltándose la comisión del 30%.</a:t>
            </a:r>
          </a:p>
          <a:p>
            <a:pPr marL="0" indent="0" algn="just">
              <a:buNone/>
            </a:pPr>
            <a:r>
              <a:rPr lang="es-ES" sz="2600" dirty="0"/>
              <a:t>Apple eliminó inmediatamente a </a:t>
            </a:r>
            <a:r>
              <a:rPr lang="es-ES" sz="2600" dirty="0" err="1"/>
              <a:t>Fortnite</a:t>
            </a:r>
            <a:r>
              <a:rPr lang="es-ES" sz="2600" dirty="0"/>
              <a:t> de la App Store, desatando una de las batallas legales más mediáticas de la historia.</a:t>
            </a:r>
          </a:p>
          <a:p>
            <a:pPr marL="0" indent="0" algn="just">
              <a:buNone/>
            </a:pPr>
            <a:r>
              <a:rPr lang="es-ES" sz="2600" dirty="0"/>
              <a:t>Aunque el juicio en EE. UU. tuvo un resultado mixto, inició la regulación a nivel mundial:</a:t>
            </a:r>
          </a:p>
          <a:p>
            <a:pPr algn="just"/>
            <a:r>
              <a:rPr lang="es-ES" sz="2600" dirty="0"/>
              <a:t>La Ley de Mercados Digitales de la Unión Europea (DMA): Obligó a Apple a abrir su sistema. </a:t>
            </a:r>
          </a:p>
          <a:p>
            <a:pPr marL="0" indent="0" algn="just">
              <a:buNone/>
            </a:pPr>
            <a:r>
              <a:rPr lang="es-ES" sz="2600" dirty="0"/>
              <a:t>En Europa, Apple ahora debe permitir tiendas de aplicaciones de terceros (como la </a:t>
            </a:r>
            <a:r>
              <a:rPr lang="es-ES" sz="2600" dirty="0" err="1"/>
              <a:t>Epic</a:t>
            </a:r>
            <a:r>
              <a:rPr lang="es-ES" sz="2600" dirty="0"/>
              <a:t> </a:t>
            </a:r>
            <a:r>
              <a:rPr lang="es-ES" sz="2600" dirty="0" err="1"/>
              <a:t>Games</a:t>
            </a:r>
            <a:r>
              <a:rPr lang="es-ES" sz="2600" dirty="0"/>
              <a:t> Store o </a:t>
            </a:r>
            <a:r>
              <a:rPr lang="es-ES" sz="2600" dirty="0" err="1"/>
              <a:t>AltStore</a:t>
            </a:r>
            <a:r>
              <a:rPr lang="es-ES" sz="2600" dirty="0"/>
              <a:t>), permitir la descarga de apps desde páginas web (</a:t>
            </a:r>
            <a:r>
              <a:rPr lang="es-ES" sz="2600" dirty="0" err="1"/>
              <a:t>sideloading</a:t>
            </a:r>
            <a:r>
              <a:rPr lang="es-ES" sz="2600" dirty="0"/>
              <a:t>) y dejar que los desarrolladores usen pasarelas de pago alternativas.</a:t>
            </a:r>
          </a:p>
          <a:p>
            <a:pPr algn="just"/>
            <a:r>
              <a:rPr lang="es-ES" sz="2600" dirty="0"/>
              <a:t>El impacto: El monopolio absoluto de la App Store se ha roto de forma legal en varias regiones, marcando el cambio más drástico en la historia de iOS desde su nacimiento.</a:t>
            </a:r>
          </a:p>
          <a:p>
            <a:pPr marL="0" indent="0" algn="just">
              <a:buNone/>
            </a:pPr>
            <a:endParaRPr lang="es-ES" sz="2600" dirty="0"/>
          </a:p>
          <a:p>
            <a:pPr marL="0" indent="0" algn="just">
              <a:buNone/>
            </a:pPr>
            <a:endParaRPr lang="es-ES" sz="260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02E4990-222E-4936-98C3-7150C9508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FD7E6-E654-4EF8-A341-A3F234C52C34}" type="slidenum">
              <a:rPr lang="es-MX" smtClean="0"/>
              <a:t>13</a:t>
            </a:fld>
            <a:endParaRPr lang="es-MX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71CB24C-7766-47D7-B537-F10BC2DA72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2398" y="1554445"/>
            <a:ext cx="2870623" cy="5115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7464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186518-F6C0-4CB1-AEFE-470D5EF2F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ES" sz="3600" dirty="0"/>
              <a:t>Sistemas operativos enfocados en la privacidad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410B94A-2B48-4AFC-A9D1-1BFB885FB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995" y="1825625"/>
            <a:ext cx="8555277" cy="493843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s-ES" sz="1600" b="1" dirty="0">
                <a:solidFill>
                  <a:schemeClr val="accent2">
                    <a:lumMod val="75000"/>
                  </a:schemeClr>
                </a:solidFill>
              </a:rPr>
              <a:t>LA COMUNIDAD TECNOLÓGICA CREÓ SISTEMAS OPERATIVOS BASADOS EN AOSP (ANDROID OPEN SOURCE PROJECT) PERO LIMPIOS DE CORPORACIONES:</a:t>
            </a:r>
          </a:p>
          <a:p>
            <a:pPr algn="just"/>
            <a:r>
              <a:rPr lang="es-ES" sz="1600" b="1" dirty="0" err="1"/>
              <a:t>GrapheneOS</a:t>
            </a:r>
            <a:r>
              <a:rPr lang="es-ES" sz="1600" dirty="0"/>
              <a:t>: El sistema operativo móvil más seguro y privado del mundo.</a:t>
            </a:r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es-ES" sz="1600" dirty="0"/>
              <a:t>Diseñado específicamente para los teléfonos Google Pixel (irónicamente).</a:t>
            </a:r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es-ES" sz="1600" dirty="0"/>
              <a:t>Elimina todos los servicios de Google a nivel de código y aísla las aplicaciones en contenedores estrictos para que ninguna pueda espiar a otra.</a:t>
            </a:r>
          </a:p>
          <a:p>
            <a:pPr algn="just"/>
            <a:r>
              <a:rPr lang="es-ES" sz="1600" b="1" dirty="0" err="1"/>
              <a:t>LineageOS</a:t>
            </a:r>
            <a:r>
              <a:rPr lang="es-ES" sz="1600" dirty="0"/>
              <a:t>: Es el heredero del mítico </a:t>
            </a:r>
            <a:r>
              <a:rPr lang="es-ES" sz="1600" dirty="0" err="1"/>
              <a:t>CyanogenMod</a:t>
            </a:r>
            <a:r>
              <a:rPr lang="es-ES" sz="1600" dirty="0"/>
              <a:t>.</a:t>
            </a:r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es-ES" sz="1600" dirty="0"/>
              <a:t>Su enfoque es dar una segunda vida a teléfonos viejos que los fabricantes ya abandonaron.</a:t>
            </a:r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es-ES" sz="1600" dirty="0"/>
              <a:t>Sumamente ligero, no incluye aplicaciones basura (</a:t>
            </a:r>
            <a:r>
              <a:rPr lang="es-ES" sz="1600" dirty="0" err="1"/>
              <a:t>bloatware</a:t>
            </a:r>
            <a:r>
              <a:rPr lang="es-ES" sz="1600" dirty="0"/>
              <a:t>) y permite al usuario decidir exactamente qué servicios instalar.</a:t>
            </a:r>
          </a:p>
          <a:p>
            <a:pPr algn="just"/>
            <a:r>
              <a:rPr lang="es-ES" sz="1600" b="1" dirty="0"/>
              <a:t>/e/OS</a:t>
            </a:r>
            <a:r>
              <a:rPr lang="es-ES" sz="1600" dirty="0"/>
              <a:t>: Diseñado para el usuario común que no quiere complicaciones técnicas pero busca "</a:t>
            </a:r>
            <a:r>
              <a:rPr lang="es-ES" sz="1600" dirty="0" err="1"/>
              <a:t>desgooglizar</a:t>
            </a:r>
            <a:r>
              <a:rPr lang="es-ES" sz="1600" dirty="0"/>
              <a:t>" su vida.</a:t>
            </a:r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es-ES" sz="1600" dirty="0"/>
              <a:t>Viene con sus propios servicios alternativos en la nube (correo, mapas, almacenamiento) que respetan la privacidad y no rastrean tu ubicación.</a:t>
            </a:r>
          </a:p>
          <a:p>
            <a:pPr algn="just"/>
            <a:r>
              <a:rPr lang="es-ES" sz="1600" b="1" dirty="0" err="1"/>
              <a:t>CalyxOS</a:t>
            </a:r>
            <a:r>
              <a:rPr lang="es-ES" sz="1600" b="1" dirty="0"/>
              <a:t>:</a:t>
            </a:r>
            <a:r>
              <a:rPr lang="es-ES" sz="1600" dirty="0"/>
              <a:t> Basado en Android y enfocado en la privacidad y la seguridad del usuario.</a:t>
            </a:r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es-ES" sz="1600" dirty="0"/>
              <a:t>Elimina el rastreo predeterminados de Google, permitiendo control total de los datos.</a:t>
            </a:r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es-ES" sz="1600" dirty="0"/>
              <a:t>Está construido con código abierto y libre (FOSS) y creado y mantenido por el </a:t>
            </a:r>
            <a:r>
              <a:rPr lang="es-ES" sz="1600" dirty="0" err="1"/>
              <a:t>Calyx</a:t>
            </a:r>
            <a:r>
              <a:rPr lang="es-ES" sz="1600" dirty="0"/>
              <a:t> </a:t>
            </a:r>
            <a:r>
              <a:rPr lang="es-ES" sz="1600" dirty="0" err="1"/>
              <a:t>Institute</a:t>
            </a:r>
            <a:r>
              <a:rPr lang="es-ES" sz="1600" dirty="0"/>
              <a:t>, una organización sin fines de lucro.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02E4990-222E-4936-98C3-7150C9508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FD7E6-E654-4EF8-A341-A3F234C52C34}" type="slidenum">
              <a:rPr lang="es-MX" smtClean="0"/>
              <a:t>14</a:t>
            </a:fld>
            <a:endParaRPr lang="es-MX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407E18F-B425-4C55-BB16-BE353759B8C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158" t="22101" r="22704" b="27990"/>
          <a:stretch/>
        </p:blipFill>
        <p:spPr>
          <a:xfrm>
            <a:off x="8842331" y="2851747"/>
            <a:ext cx="2986413" cy="1777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9478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186518-F6C0-4CB1-AEFE-470D5EF2F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ES" sz="3600" dirty="0"/>
              <a:t>Inteligencia Artificial Nativa: Apple </a:t>
            </a:r>
            <a:r>
              <a:rPr lang="es-ES" sz="3600" dirty="0" err="1"/>
              <a:t>Intelligence</a:t>
            </a:r>
            <a:r>
              <a:rPr lang="es-ES" sz="3600" dirty="0"/>
              <a:t> y Google Gemini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410B94A-2B48-4AFC-A9D1-1BFB885FB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995" y="2190750"/>
            <a:ext cx="8372605" cy="4530725"/>
          </a:xfrm>
        </p:spPr>
        <p:txBody>
          <a:bodyPr>
            <a:noAutofit/>
          </a:bodyPr>
          <a:lstStyle/>
          <a:p>
            <a:pPr algn="just"/>
            <a:r>
              <a:rPr lang="es-ES" sz="1800" b="1" dirty="0"/>
              <a:t>Google Gemini </a:t>
            </a:r>
            <a:r>
              <a:rPr lang="es-ES" sz="1800" dirty="0"/>
              <a:t>(Android): Google lleva la delantera al integrar Gemini directamente en el núcleo de Android.</a:t>
            </a:r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es-ES" sz="1800" dirty="0"/>
              <a:t>El asistente ya puede "leer" lo que pasa en tu pantalla en tiempo real.</a:t>
            </a:r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es-ES" sz="1800" dirty="0"/>
              <a:t>Si estás viendo un video de YouTube sobre un viaje, puedes activar Gemini y pedirle: "Hazme un itinerario basado en los lugares que mencionan en este video".</a:t>
            </a:r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es-ES" sz="1800" dirty="0"/>
              <a:t>El procesamiento de fotos y traducción simultánea se hace dentro del chip del teléfono de forma ultra veloz.</a:t>
            </a:r>
          </a:p>
          <a:p>
            <a:pPr algn="just"/>
            <a:r>
              <a:rPr lang="es-ES" sz="1800" b="1" dirty="0"/>
              <a:t>Apple </a:t>
            </a:r>
            <a:r>
              <a:rPr lang="es-ES" sz="1800" b="1" dirty="0" err="1"/>
              <a:t>Intelligence</a:t>
            </a:r>
            <a:r>
              <a:rPr lang="es-ES" sz="1800" b="1" dirty="0"/>
              <a:t> </a:t>
            </a:r>
            <a:r>
              <a:rPr lang="es-ES" sz="1800" dirty="0"/>
              <a:t>(iOS): Apple toma un enfoque más centrado en la privacidad y el contexto personal.</a:t>
            </a:r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es-ES" sz="1800" dirty="0"/>
              <a:t>Su IA no sabe todo sobre internet, sino todo sobre ti (lee tus correos, mensajes, calendario y notas de forma segura).</a:t>
            </a:r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es-ES" sz="1800" dirty="0"/>
              <a:t>Si dices: "Siri, reproduce el podcast que me recomendó mi hermano el martes pasado", buscará de forma privada en tus chats, identificará el enlace y lo abrirá, procesando la mayor parte de la información dentro del propio chip del iPhone (</a:t>
            </a:r>
            <a:r>
              <a:rPr lang="es-ES" sz="1800" dirty="0" err="1"/>
              <a:t>On-device</a:t>
            </a:r>
            <a:r>
              <a:rPr lang="es-ES" sz="1800" dirty="0"/>
              <a:t>) para que nadie, ni siquiera Apple, vea tus datos.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02E4990-222E-4936-98C3-7150C9508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FD7E6-E654-4EF8-A341-A3F234C52C34}" type="slidenum">
              <a:rPr lang="es-MX" smtClean="0"/>
              <a:t>15</a:t>
            </a:fld>
            <a:endParaRPr lang="es-MX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3F73B47-2F61-4AFD-B82E-B10D43AB51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0799" y="2329841"/>
            <a:ext cx="3291449" cy="4132872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7A02647A-F899-4A45-8F4E-AD51CD8E966B}"/>
              </a:ext>
            </a:extLst>
          </p:cNvPr>
          <p:cNvSpPr txBox="1"/>
          <p:nvPr/>
        </p:nvSpPr>
        <p:spPr>
          <a:xfrm>
            <a:off x="538619" y="1690688"/>
            <a:ext cx="1051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chemeClr val="accent2">
                    <a:lumMod val="75000"/>
                  </a:schemeClr>
                </a:solidFill>
              </a:rPr>
              <a:t>VIVIENDO LA TRANSICIÓN HACIA LOS AIOS (ARTIFICIAL INTELLIGENCE OPERATING SYSTEMS)</a:t>
            </a:r>
          </a:p>
        </p:txBody>
      </p:sp>
    </p:spTree>
    <p:extLst>
      <p:ext uri="{BB962C8B-B14F-4D97-AF65-F5344CB8AC3E}">
        <p14:creationId xmlns:p14="http://schemas.microsoft.com/office/powerpoint/2010/main" val="5762158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186518-F6C0-4CB1-AEFE-470D5EF2F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ES" sz="3600" dirty="0"/>
              <a:t>Próxima Frontera: Generación y Edición de Vídeo en el Dispositivo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410B94A-2B48-4AFC-A9D1-1BFB885FB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163" y="2076656"/>
            <a:ext cx="8372605" cy="4644819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s-ES" sz="1800" b="1" dirty="0"/>
              <a:t>Google</a:t>
            </a:r>
            <a:r>
              <a:rPr lang="es-ES" sz="1800" dirty="0"/>
              <a:t> (Pixel 10): Es el más agresivo en este campo, ofreciendo </a:t>
            </a:r>
            <a:r>
              <a:rPr lang="es-ES" sz="1800" b="1" dirty="0"/>
              <a:t>Video </a:t>
            </a:r>
            <a:r>
              <a:rPr lang="es-ES" sz="1800" b="1" dirty="0" err="1"/>
              <a:t>Boost</a:t>
            </a:r>
            <a:r>
              <a:rPr lang="es-ES" sz="1800" dirty="0"/>
              <a:t> para mejorar la calidad cinemática y una función de foto a vídeo en la aplicación Gemini. También se menciona la </a:t>
            </a:r>
            <a:r>
              <a:rPr lang="es-ES" sz="1800" dirty="0">
                <a:latin typeface="Arial" panose="020B0604020202020204" pitchFamily="34" charset="0"/>
                <a:cs typeface="Arial" panose="020B0604020202020204" pitchFamily="34" charset="0"/>
              </a:rPr>
              <a:t>Generación de vídeo en Gemini</a:t>
            </a:r>
            <a:r>
              <a:rPr lang="es-ES" sz="1800" dirty="0"/>
              <a:t>.</a:t>
            </a:r>
          </a:p>
          <a:p>
            <a:pPr marL="0" indent="0" algn="just">
              <a:buNone/>
            </a:pPr>
            <a:r>
              <a:rPr lang="es-ES" sz="1800" b="1" dirty="0"/>
              <a:t>Samsung</a:t>
            </a:r>
            <a:r>
              <a:rPr lang="es-ES" sz="1800" dirty="0"/>
              <a:t> (Galaxy S25): Se centra en utilidades de vídeo, no en la generación. Ofrece </a:t>
            </a:r>
            <a:r>
              <a:rPr lang="es-ES" sz="1800" dirty="0">
                <a:latin typeface="Arial" panose="020B0604020202020204" pitchFamily="34" charset="0"/>
                <a:cs typeface="Arial" panose="020B0604020202020204" pitchFamily="34" charset="0"/>
              </a:rPr>
              <a:t>Auto </a:t>
            </a:r>
            <a:r>
              <a:rPr lang="es-ES" sz="1800" dirty="0" err="1">
                <a:latin typeface="Arial" panose="020B0604020202020204" pitchFamily="34" charset="0"/>
                <a:cs typeface="Arial" panose="020B0604020202020204" pitchFamily="34" charset="0"/>
              </a:rPr>
              <a:t>Trim</a:t>
            </a:r>
            <a:r>
              <a:rPr lang="es-ES" sz="1800" dirty="0"/>
              <a:t> (extrae automáticamente momentos clave de un vídeo) y </a:t>
            </a:r>
            <a:r>
              <a:rPr lang="es-ES" sz="1800" dirty="0">
                <a:latin typeface="Arial" panose="020B0604020202020204" pitchFamily="34" charset="0"/>
                <a:cs typeface="Arial" panose="020B0604020202020204" pitchFamily="34" charset="0"/>
              </a:rPr>
              <a:t>Audio </a:t>
            </a:r>
            <a:r>
              <a:rPr lang="es-ES" sz="1800" dirty="0" err="1">
                <a:latin typeface="Arial" panose="020B0604020202020204" pitchFamily="34" charset="0"/>
                <a:cs typeface="Arial" panose="020B0604020202020204" pitchFamily="34" charset="0"/>
              </a:rPr>
              <a:t>Eraser</a:t>
            </a:r>
            <a:r>
              <a:rPr lang="es-E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800" dirty="0"/>
              <a:t>(elimina el ruido de fondo no deseado).</a:t>
            </a:r>
          </a:p>
          <a:p>
            <a:pPr marL="0" indent="0" algn="just">
              <a:buNone/>
            </a:pPr>
            <a:r>
              <a:rPr lang="es-ES" sz="1800" b="1" dirty="0"/>
              <a:t>Apple</a:t>
            </a:r>
            <a:r>
              <a:rPr lang="es-ES" sz="1800" dirty="0"/>
              <a:t> (iPhone 17): El enfoque de Apple sigue estando en la calidad de captura de vídeo profesional (</a:t>
            </a:r>
            <a:r>
              <a:rPr lang="es-ES" sz="1800" dirty="0" err="1"/>
              <a:t>ProRes</a:t>
            </a:r>
            <a:r>
              <a:rPr lang="es-ES" sz="1800" dirty="0"/>
              <a:t> RAW, Apple Log 2) y la estabilización (</a:t>
            </a:r>
            <a:r>
              <a:rPr lang="es-ES" sz="1800" dirty="0" err="1">
                <a:latin typeface="Arial" panose="020B0604020202020204" pitchFamily="34" charset="0"/>
                <a:cs typeface="Arial" panose="020B0604020202020204" pitchFamily="34" charset="0"/>
              </a:rPr>
              <a:t>Action</a:t>
            </a:r>
            <a:r>
              <a:rPr lang="es-E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800" dirty="0" err="1">
                <a:latin typeface="Arial" panose="020B0604020202020204" pitchFamily="34" charset="0"/>
                <a:cs typeface="Arial" panose="020B0604020202020204" pitchFamily="34" charset="0"/>
              </a:rPr>
              <a:t>Mode</a:t>
            </a:r>
            <a:r>
              <a:rPr lang="es-ES" sz="1800" dirty="0"/>
              <a:t>).</a:t>
            </a:r>
          </a:p>
          <a:p>
            <a:pPr marL="0" indent="0" algn="just">
              <a:buNone/>
            </a:pPr>
            <a:r>
              <a:rPr lang="es-ES" sz="1800" b="1" dirty="0"/>
              <a:t>Mercado de Apps</a:t>
            </a:r>
            <a:r>
              <a:rPr lang="es-ES" sz="1800" dirty="0"/>
              <a:t>: La verdadera generación de vídeo (texto a vídeo) sigue dominada por plataformas en la nube (Google Veo, </a:t>
            </a:r>
            <a:r>
              <a:rPr lang="es-ES" sz="1800" dirty="0" err="1"/>
              <a:t>OpenAI</a:t>
            </a:r>
            <a:r>
              <a:rPr lang="es-ES" sz="1800" dirty="0"/>
              <a:t> Sora) y aplicaciones de terceros (</a:t>
            </a:r>
            <a:r>
              <a:rPr lang="es-ES" sz="1800" dirty="0" err="1"/>
              <a:t>YouCam</a:t>
            </a:r>
            <a:r>
              <a:rPr lang="es-ES" sz="1800" dirty="0"/>
              <a:t> Video, LTX Studio).</a:t>
            </a:r>
          </a:p>
          <a:p>
            <a:pPr marL="0" indent="0" algn="just">
              <a:buNone/>
            </a:pPr>
            <a:r>
              <a:rPr lang="es-ES" sz="1800" b="1" dirty="0">
                <a:solidFill>
                  <a:schemeClr val="accent2">
                    <a:lumMod val="75000"/>
                  </a:schemeClr>
                </a:solidFill>
              </a:rPr>
              <a:t>ESTA ES LA PRÓXIMA GRAN FRONTERA DONDE LAS ARQUITECTURAS DE HARDWARE</a:t>
            </a:r>
            <a:r>
              <a:rPr lang="es-ES" sz="1800" b="1" dirty="0"/>
              <a:t> </a:t>
            </a:r>
            <a:r>
              <a:rPr lang="es-ES" sz="1800" dirty="0"/>
              <a:t>(NPU de 100 TOPS de Qualcomm vs. arquitectura GPU-ML de Apple) lucharán por la supremacía en 2026.</a:t>
            </a:r>
          </a:p>
          <a:p>
            <a:pPr marL="0" indent="0" algn="just">
              <a:buNone/>
            </a:pPr>
            <a:r>
              <a:rPr lang="es-ES" sz="1800" b="1" dirty="0"/>
              <a:t>Creación de Contenido</a:t>
            </a:r>
            <a:r>
              <a:rPr lang="es-ES" sz="1800" dirty="0"/>
              <a:t>: Generadores de Imágenes (</a:t>
            </a:r>
            <a:r>
              <a:rPr lang="es-ES" sz="1800" b="1" dirty="0" err="1"/>
              <a:t>On-Device</a:t>
            </a:r>
            <a:r>
              <a:rPr lang="es-ES" sz="1800" b="1" dirty="0"/>
              <a:t> vs. Apps</a:t>
            </a:r>
            <a:r>
              <a:rPr lang="es-ES" sz="1800" dirty="0"/>
              <a:t>), VN Video Editor, </a:t>
            </a:r>
            <a:r>
              <a:rPr lang="es-ES" sz="1800" dirty="0" err="1"/>
              <a:t>CapCut</a:t>
            </a:r>
            <a:r>
              <a:rPr lang="es-ES" sz="1800" dirty="0"/>
              <a:t>, Google Fotos, entre otros.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02E4990-222E-4936-98C3-7150C9508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FD7E6-E654-4EF8-A341-A3F234C52C34}" type="slidenum">
              <a:rPr lang="es-MX" smtClean="0"/>
              <a:t>16</a:t>
            </a:fld>
            <a:endParaRPr lang="es-MX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DF78A7D-E296-4E58-8CA0-365A57CD9E5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511" t="14150" r="8443" b="5769"/>
          <a:stretch/>
        </p:blipFill>
        <p:spPr>
          <a:xfrm>
            <a:off x="8610600" y="2434059"/>
            <a:ext cx="3482236" cy="188428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52EE3D87-C015-4F5A-94E1-C46BA0A170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0601" y="4335142"/>
            <a:ext cx="3482236" cy="1954018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0308A59-C979-4A02-9BDC-EE453172CF37}"/>
              </a:ext>
            </a:extLst>
          </p:cNvPr>
          <p:cNvSpPr txBox="1"/>
          <p:nvPr/>
        </p:nvSpPr>
        <p:spPr>
          <a:xfrm>
            <a:off x="440499" y="1629478"/>
            <a:ext cx="113110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chemeClr val="accent2">
                    <a:lumMod val="75000"/>
                  </a:schemeClr>
                </a:solidFill>
              </a:rPr>
              <a:t>ESTE ES EL CAMPO DE BATALLA MÁS NUEVO Y MÁS EXIGENTE A NIVEL COMPUTACIONAL.</a:t>
            </a:r>
          </a:p>
        </p:txBody>
      </p:sp>
    </p:spTree>
    <p:extLst>
      <p:ext uri="{BB962C8B-B14F-4D97-AF65-F5344CB8AC3E}">
        <p14:creationId xmlns:p14="http://schemas.microsoft.com/office/powerpoint/2010/main" val="80257720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</TotalTime>
  <Words>2252</Words>
  <Application>Microsoft Office PowerPoint</Application>
  <PresentationFormat>Panorámica</PresentationFormat>
  <Paragraphs>179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Courier New</vt:lpstr>
      <vt:lpstr>Times New Roman</vt:lpstr>
      <vt:lpstr>Tema de Office</vt:lpstr>
      <vt:lpstr>Desarrollo de Aplicaciones Móviles Nativas</vt:lpstr>
      <vt:lpstr>Los primeros sistemas operativos móviles</vt:lpstr>
      <vt:lpstr>Fracasos: Nokia (Symbian) y Microsoft (Windows Phone)</vt:lpstr>
      <vt:lpstr>Fracasos: Nokia (Symbian) y Microsoft (Windows Phone)</vt:lpstr>
      <vt:lpstr>La transición de la tecnología</vt:lpstr>
      <vt:lpstr>De la Antigüedad a la Modernidad</vt:lpstr>
      <vt:lpstr>Revolución Táctil: Gigantes Actuales (2007 - Presente)</vt:lpstr>
      <vt:lpstr>Presentación de PowerPoint</vt:lpstr>
      <vt:lpstr>Los sistemas operativos móviles más utilizados </vt:lpstr>
      <vt:lpstr>Diferencias de seguridad entre Android e iOS</vt:lpstr>
      <vt:lpstr>La guerra de las comisiones</vt:lpstr>
      <vt:lpstr>Capas de personalización de Android</vt:lpstr>
      <vt:lpstr>Apple vs. Epic Games y las leyes que cambiaron todo</vt:lpstr>
      <vt:lpstr>Sistemas operativos enfocados en la privacidad</vt:lpstr>
      <vt:lpstr>Inteligencia Artificial Nativa: Apple Intelligence y Google Gemini</vt:lpstr>
      <vt:lpstr>Próxima Frontera: Generación y Edición de Vídeo en el Dispositivo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Desarrollo de Aplicaciones Móviles Nativas</dc:title>
  <dc:creator>alejandro sigfrido</dc:creator>
  <cp:lastModifiedBy>alejandro sigfrido</cp:lastModifiedBy>
  <cp:revision>25</cp:revision>
  <dcterms:created xsi:type="dcterms:W3CDTF">2026-09-01T02:38:23Z</dcterms:created>
  <dcterms:modified xsi:type="dcterms:W3CDTF">2026-09-01T06:41:49Z</dcterms:modified>
</cp:coreProperties>
</file>